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Pratik Singh</a:t>
            </a:r>
          </a:p>
          <a:p/>
          <a:p>
            <a:r>
              <a:t>SPEAKING SCRIPT:</a:t>
            </a:r>
          </a:p>
          <a:p>
            <a:r>
              <a:t>Good morning Dr. Saumitra. We are Team Digital Dominators presenting our Milestone 1 progress for CampusTech 2026. Our objective is to design, develop, and search-optimize an informational web platform for a 36-hour national college hackathon, resolving information fragmentation.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Pratik Singh</a:t>
            </a:r>
          </a:p>
          <a:p/>
          <a:p>
            <a:r>
              <a:t>SPEAKING SCRIPT:</a:t>
            </a:r>
          </a:p>
          <a:p>
            <a:r>
              <a:t>When college students search for hackathon details, they often find unindexed posters or dead links. For CampusTech 2026, we structured an end-to-end information architecture that solves this fragmentation by offering dedicated, crawlable pages for each core user intent.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Pratik Singh</a:t>
            </a:r>
          </a:p>
          <a:p/>
          <a:p>
            <a:r>
              <a:t>SPEAKING SCRIPT:</a:t>
            </a:r>
          </a:p>
          <a:p>
            <a:r>
              <a:t>We simulated three primary stakeholders: student participants, campus faculty, and external industry judges. Over 85% of student queries are mobile-first, requiring lightning-fast load times and immediate clarity on team eligibility rules.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Pratik Singh</a:t>
            </a:r>
          </a:p>
          <a:p/>
          <a:p>
            <a:r>
              <a:t>SPEAKING SCRIPT:</a:t>
            </a:r>
          </a:p>
          <a:p>
            <a:r>
              <a:t>We synthesized 35 targeted keywords across search volume tiers. Each keyword is mapped to a specific canonical URL to ensure our pages rank for exact search queries without internal keyword cannibalization.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Nitin Jhajharia</a:t>
            </a:r>
          </a:p>
          <a:p/>
          <a:p>
            <a:r>
              <a:t>SPEAKING SCRIPT:</a:t>
            </a:r>
          </a:p>
          <a:p>
            <a:r>
              <a:t>Good morning sir, I am Nitin Jhajharia. To prevent keyword cannibalization and ensure every search query lands on a dedicated resource, I established an 8-page hierarchical architecture connected via a sticky header, contextual breadcrumbs, and a 4-column footer.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Nitin Jhajharia</a:t>
            </a:r>
          </a:p>
          <a:p/>
          <a:p>
            <a:r>
              <a:t>SPEAKING SCRIPT:</a:t>
            </a:r>
          </a:p>
          <a:p>
            <a:r>
              <a:t>Every page on the website has been individually crafted with unique title tags and meta descriptions within Google's snippet display limits. We also integrated breadcrumbs with Schema microdata on all subpages to assist search engine crawlers.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Dipanshu Singh</a:t>
            </a:r>
          </a:p>
          <a:p/>
          <a:p>
            <a:r>
              <a:t>SPEAKING SCRIPT:</a:t>
            </a:r>
          </a:p>
          <a:p>
            <a:r>
              <a:t>Good morning sir, I am Dipanshu Singh. I developed the working website prototype using semantic HTML5 and CSS3. By eliminating bulky runtime frameworks like React, our prototype loads instantaneously on mobile devices. All 8 pages are live and fully interconnected.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Dipanshu Singh</a:t>
            </a:r>
          </a:p>
          <a:p/>
          <a:p>
            <a:r>
              <a:t>SPEAKING SCRIPT:</a:t>
            </a:r>
          </a:p>
          <a:p>
            <a:r>
              <a:t>For technical SEO, we implemented comprehensive JSON-LD schemas. Our Event schema defines the physical coordinates at Bennett University and the free admission offer. Our FAQPage schema enables Google to display rich search dropdowns directly in search results.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Sumit Kumar</a:t>
            </a:r>
          </a:p>
          <a:p/>
          <a:p>
            <a:r>
              <a:t>SPEAKING SCRIPT:</a:t>
            </a:r>
          </a:p>
          <a:p>
            <a:r>
              <a:t>Good morning Dr. Saumitra, I am Sumit Kumar. I established our testing framework by auditing Devfolio hackathon landing pages. While competitor platforms suffer from heavy JavaScript bundles and slower mobile speeds, our prototype achieves an FCP of 0.4 seconds and a perfect 100/100 SEO score on Lighthouse.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Sumit Kumar &amp; Pratik Singh</a:t>
            </a:r>
          </a:p>
          <a:p/>
          <a:p>
            <a:r>
              <a:t>SPEAKING SCRIPT:</a:t>
            </a:r>
          </a:p>
          <a:p>
            <a:r>
              <a:t>In conclusion, Team Digital Dominators has completed all required deliverables for Milestone 1: audience research, 35-keyword intent matrix, on-page SEO sheets, live 8-page working prototype, technical schema markup, and competitor audit. We are now ready to demonstrate the live website and take your questions.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BENNETT UNIVERSITY | MINI-PROJECT MILESTONE 1 EVALUATION</a:t>
            </a:r>
          </a:p>
        </p:txBody>
      </p:sp>
      <p:sp>
        <p:nvSpPr>
          <p:cNvPr id="3" name="TextBox 2"/>
          <p:cNvSpPr txBox="1"/>
          <p:nvPr/>
        </p:nvSpPr>
        <p:spPr>
          <a:xfrm>
            <a:off x="731520" y="731520"/>
            <a:ext cx="10698480" cy="731520"/>
          </a:xfrm>
          <a:prstGeom prst="rect">
            <a:avLst/>
          </a:prstGeom>
          <a:noFill/>
        </p:spPr>
        <p:txBody>
          <a:bodyPr wrap="square">
            <a:spAutoFit/>
          </a:bodyPr>
          <a:lstStyle/>
          <a:p>
            <a:pPr>
              <a:defRPr sz="2600" b="1">
                <a:solidFill>
                  <a:srgbClr val="F8FAFC"/>
                </a:solidFill>
              </a:defRPr>
            </a:pPr>
            <a:r>
              <a:t>CampusTech 2026: Search-Optimised Event Website</a:t>
            </a:r>
          </a:p>
        </p:txBody>
      </p:sp>
      <p:sp>
        <p:nvSpPr>
          <p:cNvPr id="4" name="TextBox 3"/>
          <p:cNvSpPr txBox="1"/>
          <p:nvPr/>
        </p:nvSpPr>
        <p:spPr>
          <a:xfrm>
            <a:off x="731520" y="1645920"/>
            <a:ext cx="10698480" cy="548640"/>
          </a:xfrm>
          <a:prstGeom prst="rect">
            <a:avLst/>
          </a:prstGeom>
          <a:noFill/>
        </p:spPr>
        <p:txBody>
          <a:bodyPr wrap="none">
            <a:spAutoFit/>
          </a:bodyPr>
          <a:lstStyle/>
          <a:p>
            <a:pPr>
              <a:defRPr sz="1600">
                <a:solidFill>
                  <a:srgbClr val="06B6D4"/>
                </a:solidFill>
              </a:defRPr>
            </a:pPr>
            <a:r>
              <a:t>A Centralized, Accessible, and SEO-Optimized Platform for College Hackathons</a:t>
            </a:r>
          </a:p>
        </p:txBody>
      </p:sp>
      <p:sp>
        <p:nvSpPr>
          <p:cNvPr id="5" name="TextBox 4"/>
          <p:cNvSpPr txBox="1"/>
          <p:nvPr/>
        </p:nvSpPr>
        <p:spPr>
          <a:xfrm>
            <a:off x="731520" y="2377440"/>
            <a:ext cx="5120640" cy="1371600"/>
          </a:xfrm>
          <a:prstGeom prst="rect">
            <a:avLst/>
          </a:prstGeom>
          <a:noFill/>
        </p:spPr>
        <p:txBody>
          <a:bodyPr wrap="square">
            <a:spAutoFit/>
          </a:bodyPr>
          <a:lstStyle/>
          <a:p>
            <a:pPr>
              <a:defRPr sz="1600" b="1">
                <a:solidFill>
                  <a:srgbClr val="F8FAFC"/>
                </a:solidFill>
              </a:defRPr>
            </a:pPr>
            <a:r>
              <a:t>Pratik Singh (Lead)</a:t>
            </a:r>
          </a:p>
          <a:p>
            <a:pPr>
              <a:defRPr sz="1300">
                <a:solidFill>
                  <a:srgbClr val="06B6D4"/>
                </a:solidFill>
              </a:defRPr>
            </a:pPr>
            <a:r>
              <a:t>Roll: E23CSEU1577</a:t>
            </a:r>
          </a:p>
          <a:p>
            <a:pPr>
              <a:defRPr sz="1300">
                <a:solidFill>
                  <a:srgbClr val="94A3B8"/>
                </a:solidFill>
              </a:defRPr>
            </a:pPr>
            <a:r>
              <a:t>Role: Keyword Research &amp; Persona Mapping</a:t>
            </a:r>
          </a:p>
        </p:txBody>
      </p:sp>
      <p:sp>
        <p:nvSpPr>
          <p:cNvPr id="6" name="TextBox 5"/>
          <p:cNvSpPr txBox="1"/>
          <p:nvPr/>
        </p:nvSpPr>
        <p:spPr>
          <a:xfrm>
            <a:off x="6126480" y="2377440"/>
            <a:ext cx="5120640" cy="1371600"/>
          </a:xfrm>
          <a:prstGeom prst="rect">
            <a:avLst/>
          </a:prstGeom>
          <a:noFill/>
        </p:spPr>
        <p:txBody>
          <a:bodyPr wrap="square">
            <a:spAutoFit/>
          </a:bodyPr>
          <a:lstStyle/>
          <a:p>
            <a:pPr>
              <a:defRPr sz="1600" b="1">
                <a:solidFill>
                  <a:srgbClr val="F8FAFC"/>
                </a:solidFill>
              </a:defRPr>
            </a:pPr>
            <a:r>
              <a:t>Nitin Jhajharia</a:t>
            </a:r>
          </a:p>
          <a:p>
            <a:pPr>
              <a:defRPr sz="1300">
                <a:solidFill>
                  <a:srgbClr val="06B6D4"/>
                </a:solidFill>
              </a:defRPr>
            </a:pPr>
            <a:r>
              <a:t>Roll: E23CSEU1571</a:t>
            </a:r>
          </a:p>
          <a:p>
            <a:pPr>
              <a:defRPr sz="1300">
                <a:solidFill>
                  <a:srgbClr val="94A3B8"/>
                </a:solidFill>
              </a:defRPr>
            </a:pPr>
            <a:r>
              <a:t>Role: Information Architecture &amp; On-Page SEO</a:t>
            </a:r>
          </a:p>
        </p:txBody>
      </p:sp>
      <p:sp>
        <p:nvSpPr>
          <p:cNvPr id="7" name="TextBox 6"/>
          <p:cNvSpPr txBox="1"/>
          <p:nvPr/>
        </p:nvSpPr>
        <p:spPr>
          <a:xfrm>
            <a:off x="731520" y="4023360"/>
            <a:ext cx="5120640" cy="1371600"/>
          </a:xfrm>
          <a:prstGeom prst="rect">
            <a:avLst/>
          </a:prstGeom>
          <a:noFill/>
        </p:spPr>
        <p:txBody>
          <a:bodyPr wrap="square">
            <a:spAutoFit/>
          </a:bodyPr>
          <a:lstStyle/>
          <a:p>
            <a:pPr>
              <a:defRPr sz="1600" b="1">
                <a:solidFill>
                  <a:srgbClr val="F8FAFC"/>
                </a:solidFill>
              </a:defRPr>
            </a:pPr>
            <a:r>
              <a:t>Dipanshu Singh</a:t>
            </a:r>
          </a:p>
          <a:p>
            <a:pPr>
              <a:defRPr sz="1300">
                <a:solidFill>
                  <a:srgbClr val="06B6D4"/>
                </a:solidFill>
              </a:defRPr>
            </a:pPr>
            <a:r>
              <a:t>Roll: E23CSEU1648</a:t>
            </a:r>
          </a:p>
          <a:p>
            <a:pPr>
              <a:defRPr sz="1300">
                <a:solidFill>
                  <a:srgbClr val="94A3B8"/>
                </a:solidFill>
              </a:defRPr>
            </a:pPr>
            <a:r>
              <a:t>Role: Website Prototype &amp; Technical SEO</a:t>
            </a:r>
          </a:p>
        </p:txBody>
      </p:sp>
      <p:sp>
        <p:nvSpPr>
          <p:cNvPr id="8" name="TextBox 7"/>
          <p:cNvSpPr txBox="1"/>
          <p:nvPr/>
        </p:nvSpPr>
        <p:spPr>
          <a:xfrm>
            <a:off x="6126480" y="4023360"/>
            <a:ext cx="5120640" cy="1371600"/>
          </a:xfrm>
          <a:prstGeom prst="rect">
            <a:avLst/>
          </a:prstGeom>
          <a:noFill/>
        </p:spPr>
        <p:txBody>
          <a:bodyPr wrap="square">
            <a:spAutoFit/>
          </a:bodyPr>
          <a:lstStyle/>
          <a:p>
            <a:pPr>
              <a:defRPr sz="1600" b="1">
                <a:solidFill>
                  <a:srgbClr val="F8FAFC"/>
                </a:solidFill>
              </a:defRPr>
            </a:pPr>
            <a:r>
              <a:t>Sumit Kumar</a:t>
            </a:r>
          </a:p>
          <a:p>
            <a:pPr>
              <a:defRPr sz="1300">
                <a:solidFill>
                  <a:srgbClr val="06B6D4"/>
                </a:solidFill>
              </a:defRPr>
            </a:pPr>
            <a:r>
              <a:t>Roll: E23CSEU1651</a:t>
            </a:r>
          </a:p>
          <a:p>
            <a:pPr>
              <a:defRPr sz="1300">
                <a:solidFill>
                  <a:srgbClr val="94A3B8"/>
                </a:solidFill>
              </a:defRPr>
            </a:pPr>
            <a:r>
              <a:t>Role: Competitor Baseline Audit &amp; QA Testing</a:t>
            </a:r>
          </a:p>
        </p:txBody>
      </p:sp>
      <p:sp>
        <p:nvSpPr>
          <p:cNvPr id="9" name="TextBox 8"/>
          <p:cNvSpPr txBox="1"/>
          <p:nvPr/>
        </p:nvSpPr>
        <p:spPr>
          <a:xfrm>
            <a:off x="731520" y="5852160"/>
            <a:ext cx="10698480" cy="457200"/>
          </a:xfrm>
          <a:prstGeom prst="rect">
            <a:avLst/>
          </a:prstGeom>
          <a:noFill/>
        </p:spPr>
        <p:txBody>
          <a:bodyPr wrap="none">
            <a:spAutoFit/>
          </a:bodyPr>
          <a:lstStyle/>
          <a:p>
            <a:pPr>
              <a:defRPr sz="1300" b="1">
                <a:solidFill>
                  <a:srgbClr val="10B981"/>
                </a:solidFill>
              </a:defRPr>
            </a:pPr>
            <a:r>
              <a:t>Faculty Evaluator: Dr. Saumitra | Class: B.Tech CSE, Semester VII B53</a:t>
            </a:r>
          </a:p>
        </p:txBody>
      </p:sp>
      <p:sp>
        <p:nvSpPr>
          <p:cNvPr id="10" name="TextBox 9"/>
          <p:cNvSpPr txBox="1"/>
          <p:nvPr/>
        </p:nvSpPr>
        <p:spPr>
          <a:xfrm>
            <a:off x="731520" y="6035040"/>
            <a:ext cx="10698480" cy="365760"/>
          </a:xfrm>
          <a:prstGeom prst="rect">
            <a:avLst/>
          </a:prstGeom>
          <a:noFill/>
        </p:spPr>
        <p:txBody>
          <a:bodyPr wrap="none">
            <a:spAutoFit/>
          </a:bodyPr>
          <a:lstStyle/>
          <a:p>
            <a:pPr>
              <a:defRPr sz="1100" b="1">
                <a:solidFill>
                  <a:srgbClr val="10B981"/>
                </a:solidFill>
              </a:defRPr>
            </a:pPr>
            <a:r>
              <a:t>🎙️ Presenter: Pratik Singh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PROBLEM STATEMENT &amp; SOLUTION</a:t>
            </a:r>
          </a:p>
        </p:txBody>
      </p:sp>
      <p:sp>
        <p:nvSpPr>
          <p:cNvPr id="3" name="TextBox 2"/>
          <p:cNvSpPr txBox="1"/>
          <p:nvPr/>
        </p:nvSpPr>
        <p:spPr>
          <a:xfrm>
            <a:off x="731520" y="731520"/>
            <a:ext cx="10698480" cy="731520"/>
          </a:xfrm>
          <a:prstGeom prst="rect">
            <a:avLst/>
          </a:prstGeom>
          <a:noFill/>
        </p:spPr>
        <p:txBody>
          <a:bodyPr wrap="square">
            <a:spAutoFit/>
          </a:bodyPr>
          <a:lstStyle/>
          <a:p>
            <a:pPr>
              <a:defRPr sz="2600" b="1">
                <a:solidFill>
                  <a:srgbClr val="F8FAFC"/>
                </a:solidFill>
              </a:defRPr>
            </a:pPr>
            <a:r>
              <a:t>The Problem: Information Fragmentation in Hackathons</a:t>
            </a:r>
          </a:p>
        </p:txBody>
      </p:sp>
      <p:sp>
        <p:nvSpPr>
          <p:cNvPr id="4" name="TextBox 3"/>
          <p:cNvSpPr txBox="1"/>
          <p:nvPr/>
        </p:nvSpPr>
        <p:spPr>
          <a:xfrm>
            <a:off x="731520" y="1645920"/>
            <a:ext cx="5120640" cy="4114800"/>
          </a:xfrm>
          <a:prstGeom prst="rect">
            <a:avLst/>
          </a:prstGeom>
          <a:noFill/>
        </p:spPr>
        <p:txBody>
          <a:bodyPr wrap="square">
            <a:spAutoFit/>
          </a:bodyPr>
          <a:lstStyle/>
          <a:p>
            <a:pPr>
              <a:defRPr sz="1700" b="1">
                <a:solidFill>
                  <a:srgbClr val="06B6D4"/>
                </a:solidFill>
              </a:defRPr>
            </a:pPr>
            <a:r>
              <a:t>Current Student Pain Points</a:t>
            </a:r>
          </a:p>
          <a:p>
            <a:pPr>
              <a:spcBef>
                <a:spcPts val="800"/>
              </a:spcBef>
              <a:defRPr sz="1300">
                <a:solidFill>
                  <a:srgbClr val="94A3B8"/>
                </a:solidFill>
              </a:defRPr>
            </a:pPr>
            <a:r>
              <a:t>• Details scattered across Instagram stories, WhatsApp, unindexed forms, and PDFs.</a:t>
            </a:r>
          </a:p>
          <a:p>
            <a:pPr>
              <a:spcBef>
                <a:spcPts val="800"/>
              </a:spcBef>
              <a:defRPr sz="1300">
                <a:solidFill>
                  <a:srgbClr val="94A3B8"/>
                </a:solidFill>
              </a:defRPr>
            </a:pPr>
            <a:r>
              <a:t>• Search engines cannot index critical information like team rules or timelines.</a:t>
            </a:r>
          </a:p>
          <a:p>
            <a:pPr>
              <a:spcBef>
                <a:spcPts val="800"/>
              </a:spcBef>
              <a:defRPr sz="1300">
                <a:solidFill>
                  <a:srgbClr val="94A3B8"/>
                </a:solidFill>
              </a:defRPr>
            </a:pPr>
            <a:r>
              <a:t>• High student friction leading to registration drop-offs.</a:t>
            </a:r>
          </a:p>
        </p:txBody>
      </p:sp>
      <p:sp>
        <p:nvSpPr>
          <p:cNvPr id="5" name="TextBox 4"/>
          <p:cNvSpPr txBox="1"/>
          <p:nvPr/>
        </p:nvSpPr>
        <p:spPr>
          <a:xfrm>
            <a:off x="6080759" y="1645920"/>
            <a:ext cx="5120640" cy="4114800"/>
          </a:xfrm>
          <a:prstGeom prst="rect">
            <a:avLst/>
          </a:prstGeom>
          <a:noFill/>
        </p:spPr>
        <p:txBody>
          <a:bodyPr wrap="square">
            <a:spAutoFit/>
          </a:bodyPr>
          <a:lstStyle/>
          <a:p>
            <a:pPr>
              <a:defRPr sz="1700" b="1">
                <a:solidFill>
                  <a:srgbClr val="06B6D4"/>
                </a:solidFill>
              </a:defRPr>
            </a:pPr>
            <a:r>
              <a:t>Our Engineered Solution</a:t>
            </a:r>
          </a:p>
          <a:p>
            <a:pPr>
              <a:spcBef>
                <a:spcPts val="800"/>
              </a:spcBef>
              <a:defRPr sz="1300">
                <a:solidFill>
                  <a:srgbClr val="94A3B8"/>
                </a:solidFill>
              </a:defRPr>
            </a:pPr>
            <a:r>
              <a:t>• Centralized 8-page crawlable web platform built with semantic HTML5 and CSS3.</a:t>
            </a:r>
          </a:p>
          <a:p>
            <a:pPr>
              <a:spcBef>
                <a:spcPts val="800"/>
              </a:spcBef>
              <a:defRPr sz="1300">
                <a:solidFill>
                  <a:srgbClr val="94A3B8"/>
                </a:solidFill>
              </a:defRPr>
            </a:pPr>
            <a:r>
              <a:t>• Strict mapping of student search intent to dedicated landing pages.</a:t>
            </a:r>
          </a:p>
          <a:p>
            <a:pPr>
              <a:spcBef>
                <a:spcPts val="800"/>
              </a:spcBef>
              <a:defRPr sz="1300">
                <a:solidFill>
                  <a:srgbClr val="94A3B8"/>
                </a:solidFill>
              </a:defRPr>
            </a:pPr>
            <a:r>
              <a:t>• Sub-400ms mobile load speed with 100% WCAG accessible contrast.</a:t>
            </a:r>
          </a:p>
        </p:txBody>
      </p:sp>
      <p:sp>
        <p:nvSpPr>
          <p:cNvPr id="6" name="TextBox 5"/>
          <p:cNvSpPr txBox="1"/>
          <p:nvPr/>
        </p:nvSpPr>
        <p:spPr>
          <a:xfrm>
            <a:off x="731520" y="6035040"/>
            <a:ext cx="10698480" cy="365760"/>
          </a:xfrm>
          <a:prstGeom prst="rect">
            <a:avLst/>
          </a:prstGeom>
          <a:noFill/>
        </p:spPr>
        <p:txBody>
          <a:bodyPr wrap="none">
            <a:spAutoFit/>
          </a:bodyPr>
          <a:lstStyle/>
          <a:p>
            <a:pPr>
              <a:defRPr sz="1100" b="1">
                <a:solidFill>
                  <a:srgbClr val="10B981"/>
                </a:solidFill>
              </a:defRPr>
            </a:pPr>
            <a:r>
              <a:t>🎙️ Presenter: Pratik Singh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AUDIENCE RESEARCH &amp; USER PROFILING</a:t>
            </a:r>
          </a:p>
        </p:txBody>
      </p:sp>
      <p:sp>
        <p:nvSpPr>
          <p:cNvPr id="3" name="TextBox 2"/>
          <p:cNvSpPr txBox="1"/>
          <p:nvPr/>
        </p:nvSpPr>
        <p:spPr>
          <a:xfrm>
            <a:off x="731520" y="731520"/>
            <a:ext cx="10698480" cy="731520"/>
          </a:xfrm>
          <a:prstGeom prst="rect">
            <a:avLst/>
          </a:prstGeom>
          <a:noFill/>
        </p:spPr>
        <p:txBody>
          <a:bodyPr wrap="square">
            <a:spAutoFit/>
          </a:bodyPr>
          <a:lstStyle/>
          <a:p>
            <a:pPr>
              <a:defRPr sz="2600" b="1">
                <a:solidFill>
                  <a:srgbClr val="F8FAFC"/>
                </a:solidFill>
              </a:defRPr>
            </a:pPr>
            <a:r>
              <a:t>Target Audience Personas &amp; Information Needs</a:t>
            </a:r>
          </a:p>
        </p:txBody>
      </p:sp>
      <p:sp>
        <p:nvSpPr>
          <p:cNvPr id="4" name="TextBox 3"/>
          <p:cNvSpPr txBox="1"/>
          <p:nvPr/>
        </p:nvSpPr>
        <p:spPr>
          <a:xfrm>
            <a:off x="731520" y="1645920"/>
            <a:ext cx="3337560" cy="4114800"/>
          </a:xfrm>
          <a:prstGeom prst="rect">
            <a:avLst/>
          </a:prstGeom>
          <a:noFill/>
        </p:spPr>
        <p:txBody>
          <a:bodyPr wrap="square">
            <a:spAutoFit/>
          </a:bodyPr>
          <a:lstStyle/>
          <a:p>
            <a:pPr>
              <a:defRPr sz="1700" b="1">
                <a:solidFill>
                  <a:srgbClr val="06B6D4"/>
                </a:solidFill>
              </a:defRPr>
            </a:pPr>
            <a:r>
              <a:t>Persona 1: Student Participant (Rohan)</a:t>
            </a:r>
          </a:p>
          <a:p>
            <a:pPr>
              <a:spcBef>
                <a:spcPts val="800"/>
              </a:spcBef>
              <a:defRPr sz="1300">
                <a:solidFill>
                  <a:srgbClr val="94A3B8"/>
                </a:solidFill>
              </a:defRPr>
            </a:pPr>
            <a:r>
              <a:t>• Demographics: 20 yrs, 3rd-year B.Tech CSE, mobile-first searcher.</a:t>
            </a:r>
          </a:p>
          <a:p>
            <a:pPr>
              <a:spcBef>
                <a:spcPts val="800"/>
              </a:spcBef>
              <a:defRPr sz="1300">
                <a:solidFill>
                  <a:srgbClr val="94A3B8"/>
                </a:solidFill>
              </a:defRPr>
            </a:pPr>
            <a:r>
              <a:t>• Core Queries: 'CampusTech eligibility', 'team size 2 to 4', 'how to register free'.</a:t>
            </a:r>
          </a:p>
          <a:p>
            <a:pPr>
              <a:spcBef>
                <a:spcPts val="800"/>
              </a:spcBef>
              <a:defRPr sz="1300">
                <a:solidFill>
                  <a:srgbClr val="94A3B8"/>
                </a:solidFill>
              </a:defRPr>
            </a:pPr>
            <a:r>
              <a:t>• Need: Instant answers on rules without downloading multi-page brochures.</a:t>
            </a:r>
          </a:p>
        </p:txBody>
      </p:sp>
      <p:sp>
        <p:nvSpPr>
          <p:cNvPr id="5" name="TextBox 4"/>
          <p:cNvSpPr txBox="1"/>
          <p:nvPr/>
        </p:nvSpPr>
        <p:spPr>
          <a:xfrm>
            <a:off x="4297680" y="1645920"/>
            <a:ext cx="3337560" cy="4114800"/>
          </a:xfrm>
          <a:prstGeom prst="rect">
            <a:avLst/>
          </a:prstGeom>
          <a:noFill/>
        </p:spPr>
        <p:txBody>
          <a:bodyPr wrap="square">
            <a:spAutoFit/>
          </a:bodyPr>
          <a:lstStyle/>
          <a:p>
            <a:pPr>
              <a:defRPr sz="1700" b="1">
                <a:solidFill>
                  <a:srgbClr val="06B6D4"/>
                </a:solidFill>
              </a:defRPr>
            </a:pPr>
            <a:r>
              <a:t>Persona 2: Faculty Organizer (Dr. Sharma)</a:t>
            </a:r>
          </a:p>
          <a:p>
            <a:pPr>
              <a:spcBef>
                <a:spcPts val="800"/>
              </a:spcBef>
              <a:defRPr sz="1300">
                <a:solidFill>
                  <a:srgbClr val="94A3B8"/>
                </a:solidFill>
              </a:defRPr>
            </a:pPr>
            <a:r>
              <a:t>• Demographics: Faculty mentor, desktop-first searcher.</a:t>
            </a:r>
          </a:p>
          <a:p>
            <a:pPr>
              <a:spcBef>
                <a:spcPts val="800"/>
              </a:spcBef>
              <a:defRPr sz="1300">
                <a:solidFill>
                  <a:srgbClr val="94A3B8"/>
                </a:solidFill>
              </a:defRPr>
            </a:pPr>
            <a:r>
              <a:t>• Core Queries: 'CampusTech schedule', 'lab bay allocation', 'faculty contacts'.</a:t>
            </a:r>
          </a:p>
          <a:p>
            <a:pPr>
              <a:spcBef>
                <a:spcPts val="800"/>
              </a:spcBef>
              <a:defRPr sz="1300">
                <a:solidFill>
                  <a:srgbClr val="94A3B8"/>
                </a:solidFill>
              </a:defRPr>
            </a:pPr>
            <a:r>
              <a:t>• Need: Transparent event schedule, campus logistics, and security protocols.</a:t>
            </a:r>
          </a:p>
        </p:txBody>
      </p:sp>
      <p:sp>
        <p:nvSpPr>
          <p:cNvPr id="6" name="TextBox 5"/>
          <p:cNvSpPr txBox="1"/>
          <p:nvPr/>
        </p:nvSpPr>
        <p:spPr>
          <a:xfrm>
            <a:off x="7863840" y="1645920"/>
            <a:ext cx="3337560" cy="4114800"/>
          </a:xfrm>
          <a:prstGeom prst="rect">
            <a:avLst/>
          </a:prstGeom>
          <a:noFill/>
        </p:spPr>
        <p:txBody>
          <a:bodyPr wrap="square">
            <a:spAutoFit/>
          </a:bodyPr>
          <a:lstStyle/>
          <a:p>
            <a:pPr>
              <a:defRPr sz="1700" b="1">
                <a:solidFill>
                  <a:srgbClr val="06B6D4"/>
                </a:solidFill>
              </a:defRPr>
            </a:pPr>
            <a:r>
              <a:t>Persona 3: Industry Mentor / Judge (Vikram)</a:t>
            </a:r>
          </a:p>
          <a:p>
            <a:pPr>
              <a:spcBef>
                <a:spcPts val="800"/>
              </a:spcBef>
              <a:defRPr sz="1300">
                <a:solidFill>
                  <a:srgbClr val="94A3B8"/>
                </a:solidFill>
              </a:defRPr>
            </a:pPr>
            <a:r>
              <a:t>• Demographics: Senior engineering manager, tablet/desktop.</a:t>
            </a:r>
          </a:p>
          <a:p>
            <a:pPr>
              <a:spcBef>
                <a:spcPts val="800"/>
              </a:spcBef>
              <a:defRPr sz="1300">
                <a:solidFill>
                  <a:srgbClr val="94A3B8"/>
                </a:solidFill>
              </a:defRPr>
            </a:pPr>
            <a:r>
              <a:t>• Core Queries: 'Judging criteria rubric', 'project expo timing', 'live pitches'.</a:t>
            </a:r>
          </a:p>
          <a:p>
            <a:pPr>
              <a:spcBef>
                <a:spcPts val="800"/>
              </a:spcBef>
              <a:defRPr sz="1300">
                <a:solidFill>
                  <a:srgbClr val="94A3B8"/>
                </a:solidFill>
              </a:defRPr>
            </a:pPr>
            <a:r>
              <a:t>• Need: Clear 100-point rubric breakdown and evaluation weights.</a:t>
            </a:r>
          </a:p>
        </p:txBody>
      </p:sp>
      <p:sp>
        <p:nvSpPr>
          <p:cNvPr id="7" name="TextBox 6"/>
          <p:cNvSpPr txBox="1"/>
          <p:nvPr/>
        </p:nvSpPr>
        <p:spPr>
          <a:xfrm>
            <a:off x="731520" y="6035040"/>
            <a:ext cx="10698480" cy="365760"/>
          </a:xfrm>
          <a:prstGeom prst="rect">
            <a:avLst/>
          </a:prstGeom>
          <a:noFill/>
        </p:spPr>
        <p:txBody>
          <a:bodyPr wrap="none">
            <a:spAutoFit/>
          </a:bodyPr>
          <a:lstStyle/>
          <a:p>
            <a:pPr>
              <a:defRPr sz="1100" b="1">
                <a:solidFill>
                  <a:srgbClr val="10B981"/>
                </a:solidFill>
              </a:defRPr>
            </a:pPr>
            <a:r>
              <a:t>🎙️ Presenter: Pratik Singh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KEYWORD RESEARCH MATRIX (35 QUERIES)</a:t>
            </a:r>
          </a:p>
        </p:txBody>
      </p:sp>
      <p:sp>
        <p:nvSpPr>
          <p:cNvPr id="3" name="TextBox 2"/>
          <p:cNvSpPr txBox="1"/>
          <p:nvPr/>
        </p:nvSpPr>
        <p:spPr>
          <a:xfrm>
            <a:off x="731520" y="731520"/>
            <a:ext cx="10698480" cy="731520"/>
          </a:xfrm>
          <a:prstGeom prst="rect">
            <a:avLst/>
          </a:prstGeom>
          <a:noFill/>
        </p:spPr>
        <p:txBody>
          <a:bodyPr wrap="square">
            <a:spAutoFit/>
          </a:bodyPr>
          <a:lstStyle/>
          <a:p>
            <a:pPr>
              <a:defRPr sz="2600" b="1">
                <a:solidFill>
                  <a:srgbClr val="F8FAFC"/>
                </a:solidFill>
              </a:defRPr>
            </a:pPr>
            <a:r>
              <a:t>Keyword Strategy &amp; Intent-to-Page Mapping</a:t>
            </a:r>
          </a:p>
        </p:txBody>
      </p:sp>
      <p:sp>
        <p:nvSpPr>
          <p:cNvPr id="4" name="TextBox 3"/>
          <p:cNvSpPr txBox="1"/>
          <p:nvPr/>
        </p:nvSpPr>
        <p:spPr>
          <a:xfrm>
            <a:off x="731520" y="1645920"/>
            <a:ext cx="3337560" cy="4114800"/>
          </a:xfrm>
          <a:prstGeom prst="rect">
            <a:avLst/>
          </a:prstGeom>
          <a:noFill/>
        </p:spPr>
        <p:txBody>
          <a:bodyPr wrap="square">
            <a:spAutoFit/>
          </a:bodyPr>
          <a:lstStyle/>
          <a:p>
            <a:pPr>
              <a:defRPr sz="1700" b="1">
                <a:solidFill>
                  <a:srgbClr val="06B6D4"/>
                </a:solidFill>
              </a:defRPr>
            </a:pPr>
            <a:r>
              <a:t>Informational Intent (60%)</a:t>
            </a:r>
          </a:p>
          <a:p>
            <a:pPr>
              <a:spcBef>
                <a:spcPts val="800"/>
              </a:spcBef>
              <a:defRPr sz="1300">
                <a:solidFill>
                  <a:srgbClr val="94A3B8"/>
                </a:solidFill>
              </a:defRPr>
            </a:pPr>
            <a:r>
              <a:t>• 'CampusTech 2026 eligibility and team size' -&gt; eligibility.html</a:t>
            </a:r>
          </a:p>
          <a:p>
            <a:pPr>
              <a:spcBef>
                <a:spcPts val="800"/>
              </a:spcBef>
              <a:defRPr sz="1300">
                <a:solidFill>
                  <a:srgbClr val="94A3B8"/>
                </a:solidFill>
              </a:defRPr>
            </a:pPr>
            <a:r>
              <a:t>• 'CampusTech hackathon schedule timeline' -&gt; schedule.html</a:t>
            </a:r>
          </a:p>
          <a:p>
            <a:pPr>
              <a:spcBef>
                <a:spcPts val="800"/>
              </a:spcBef>
              <a:defRPr sz="1300">
                <a:solidFill>
                  <a:srgbClr val="94A3B8"/>
                </a:solidFill>
              </a:defRPr>
            </a:pPr>
            <a:r>
              <a:t>• 'AI ML problem tracks Delhi NCR' -&gt; challenges.html</a:t>
            </a:r>
          </a:p>
        </p:txBody>
      </p:sp>
      <p:sp>
        <p:nvSpPr>
          <p:cNvPr id="5" name="TextBox 4"/>
          <p:cNvSpPr txBox="1"/>
          <p:nvPr/>
        </p:nvSpPr>
        <p:spPr>
          <a:xfrm>
            <a:off x="4297680" y="1645920"/>
            <a:ext cx="3337560" cy="4114800"/>
          </a:xfrm>
          <a:prstGeom prst="rect">
            <a:avLst/>
          </a:prstGeom>
          <a:noFill/>
        </p:spPr>
        <p:txBody>
          <a:bodyPr wrap="square">
            <a:spAutoFit/>
          </a:bodyPr>
          <a:lstStyle/>
          <a:p>
            <a:pPr>
              <a:defRPr sz="1700" b="1">
                <a:solidFill>
                  <a:srgbClr val="06B6D4"/>
                </a:solidFill>
              </a:defRPr>
            </a:pPr>
            <a:r>
              <a:t>Action / Transactional Intent (25%)</a:t>
            </a:r>
          </a:p>
          <a:p>
            <a:pPr>
              <a:spcBef>
                <a:spcPts val="800"/>
              </a:spcBef>
              <a:defRPr sz="1300">
                <a:solidFill>
                  <a:srgbClr val="94A3B8"/>
                </a:solidFill>
              </a:defRPr>
            </a:pPr>
            <a:r>
              <a:t>• 'CampusTech hackathon registration' -&gt; registration.html</a:t>
            </a:r>
          </a:p>
          <a:p>
            <a:pPr>
              <a:spcBef>
                <a:spcPts val="800"/>
              </a:spcBef>
              <a:defRPr sz="1300">
                <a:solidFill>
                  <a:srgbClr val="94A3B8"/>
                </a:solidFill>
              </a:defRPr>
            </a:pPr>
            <a:r>
              <a:t>• 'how to register for CampusTech 2026' -&gt; registration.html</a:t>
            </a:r>
          </a:p>
          <a:p>
            <a:pPr>
              <a:spcBef>
                <a:spcPts val="800"/>
              </a:spcBef>
              <a:defRPr sz="1300">
                <a:solidFill>
                  <a:srgbClr val="94A3B8"/>
                </a:solidFill>
              </a:defRPr>
            </a:pPr>
            <a:r>
              <a:t>• 'free registration tech hackathon' -&gt; registration.html</a:t>
            </a:r>
          </a:p>
        </p:txBody>
      </p:sp>
      <p:sp>
        <p:nvSpPr>
          <p:cNvPr id="6" name="TextBox 5"/>
          <p:cNvSpPr txBox="1"/>
          <p:nvPr/>
        </p:nvSpPr>
        <p:spPr>
          <a:xfrm>
            <a:off x="7863840" y="1645920"/>
            <a:ext cx="3337560" cy="4114800"/>
          </a:xfrm>
          <a:prstGeom prst="rect">
            <a:avLst/>
          </a:prstGeom>
          <a:noFill/>
        </p:spPr>
        <p:txBody>
          <a:bodyPr wrap="square">
            <a:spAutoFit/>
          </a:bodyPr>
          <a:lstStyle/>
          <a:p>
            <a:pPr>
              <a:defRPr sz="1700" b="1">
                <a:solidFill>
                  <a:srgbClr val="06B6D4"/>
                </a:solidFill>
              </a:defRPr>
            </a:pPr>
            <a:r>
              <a:t>Navigational &amp; Place Intent (15%)</a:t>
            </a:r>
          </a:p>
          <a:p>
            <a:pPr>
              <a:spcBef>
                <a:spcPts val="800"/>
              </a:spcBef>
              <a:defRPr sz="1300">
                <a:solidFill>
                  <a:srgbClr val="94A3B8"/>
                </a:solidFill>
              </a:defRPr>
            </a:pPr>
            <a:r>
              <a:t>• 'CampusTech Bennett University location' -&gt; venue.html</a:t>
            </a:r>
          </a:p>
          <a:p>
            <a:pPr>
              <a:spcBef>
                <a:spcPts val="800"/>
              </a:spcBef>
              <a:defRPr sz="1300">
                <a:solidFill>
                  <a:srgbClr val="94A3B8"/>
                </a:solidFill>
              </a:defRPr>
            </a:pPr>
            <a:r>
              <a:t>• 'Pari Chowk to venue route directions' -&gt; venue.html</a:t>
            </a:r>
          </a:p>
          <a:p>
            <a:pPr>
              <a:spcBef>
                <a:spcPts val="800"/>
              </a:spcBef>
              <a:defRPr sz="1300">
                <a:solidFill>
                  <a:srgbClr val="94A3B8"/>
                </a:solidFill>
              </a:defRPr>
            </a:pPr>
            <a:r>
              <a:t>• 'CampusTech organizer contact email' -&gt; venue.html</a:t>
            </a:r>
          </a:p>
        </p:txBody>
      </p:sp>
      <p:sp>
        <p:nvSpPr>
          <p:cNvPr id="7" name="TextBox 6"/>
          <p:cNvSpPr txBox="1"/>
          <p:nvPr/>
        </p:nvSpPr>
        <p:spPr>
          <a:xfrm>
            <a:off x="731520" y="6035040"/>
            <a:ext cx="10698480" cy="365760"/>
          </a:xfrm>
          <a:prstGeom prst="rect">
            <a:avLst/>
          </a:prstGeom>
          <a:noFill/>
        </p:spPr>
        <p:txBody>
          <a:bodyPr wrap="none">
            <a:spAutoFit/>
          </a:bodyPr>
          <a:lstStyle/>
          <a:p>
            <a:pPr>
              <a:defRPr sz="1100" b="1">
                <a:solidFill>
                  <a:srgbClr val="10B981"/>
                </a:solidFill>
              </a:defRPr>
            </a:pPr>
            <a:r>
              <a:t>🎙️ Presenter: Pratik Singh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INFORMATION ARCHITECTURE &amp; CONTENT PLAN</a:t>
            </a:r>
          </a:p>
        </p:txBody>
      </p:sp>
      <p:sp>
        <p:nvSpPr>
          <p:cNvPr id="3" name="TextBox 2"/>
          <p:cNvSpPr txBox="1"/>
          <p:nvPr/>
        </p:nvSpPr>
        <p:spPr>
          <a:xfrm>
            <a:off x="731520" y="731520"/>
            <a:ext cx="10698480" cy="731520"/>
          </a:xfrm>
          <a:prstGeom prst="rect">
            <a:avLst/>
          </a:prstGeom>
          <a:noFill/>
        </p:spPr>
        <p:txBody>
          <a:bodyPr wrap="square">
            <a:spAutoFit/>
          </a:bodyPr>
          <a:lstStyle/>
          <a:p>
            <a:pPr>
              <a:defRPr sz="2600" b="1">
                <a:solidFill>
                  <a:srgbClr val="F8FAFC"/>
                </a:solidFill>
              </a:defRPr>
            </a:pPr>
            <a:r>
              <a:t>8-Page Information Architecture &amp; Site Map</a:t>
            </a:r>
          </a:p>
        </p:txBody>
      </p:sp>
      <p:sp>
        <p:nvSpPr>
          <p:cNvPr id="4" name="TextBox 3"/>
          <p:cNvSpPr txBox="1"/>
          <p:nvPr/>
        </p:nvSpPr>
        <p:spPr>
          <a:xfrm>
            <a:off x="731520" y="1645920"/>
            <a:ext cx="5120640" cy="4114800"/>
          </a:xfrm>
          <a:prstGeom prst="rect">
            <a:avLst/>
          </a:prstGeom>
          <a:noFill/>
        </p:spPr>
        <p:txBody>
          <a:bodyPr wrap="square">
            <a:spAutoFit/>
          </a:bodyPr>
          <a:lstStyle/>
          <a:p>
            <a:pPr>
              <a:defRPr sz="1700" b="1">
                <a:solidFill>
                  <a:srgbClr val="06B6D4"/>
                </a:solidFill>
              </a:defRPr>
            </a:pPr>
            <a:r>
              <a:t>Core Discovery Pages</a:t>
            </a:r>
          </a:p>
          <a:p>
            <a:pPr>
              <a:spcBef>
                <a:spcPts val="800"/>
              </a:spcBef>
              <a:defRPr sz="1300">
                <a:solidFill>
                  <a:srgbClr val="94A3B8"/>
                </a:solidFill>
              </a:defRPr>
            </a:pPr>
            <a:r>
              <a:t>• index.html: Hero countdown, track teasers, information hub.</a:t>
            </a:r>
          </a:p>
          <a:p>
            <a:pPr>
              <a:spcBef>
                <a:spcPts val="800"/>
              </a:spcBef>
              <a:defRPr sz="1300">
                <a:solidFill>
                  <a:srgbClr val="94A3B8"/>
                </a:solidFill>
              </a:defRPr>
            </a:pPr>
            <a:r>
              <a:t>• overview.html: Mission, 36-hr sprint philosophy, participant journey.</a:t>
            </a:r>
          </a:p>
          <a:p>
            <a:pPr>
              <a:spcBef>
                <a:spcPts val="800"/>
              </a:spcBef>
              <a:defRPr sz="1300">
                <a:solidFill>
                  <a:srgbClr val="94A3B8"/>
                </a:solidFill>
              </a:defRPr>
            </a:pPr>
            <a:r>
              <a:t>• schedule.html: 3-day timeline with interactive day-tab filters.</a:t>
            </a:r>
          </a:p>
          <a:p>
            <a:pPr>
              <a:spcBef>
                <a:spcPts val="800"/>
              </a:spcBef>
              <a:defRPr sz="1300">
                <a:solidFill>
                  <a:srgbClr val="94A3B8"/>
                </a:solidFill>
              </a:defRPr>
            </a:pPr>
            <a:r>
              <a:t>• eligibility.html: Participation rules, team size (2-4), IP ownership.</a:t>
            </a:r>
          </a:p>
        </p:txBody>
      </p:sp>
      <p:sp>
        <p:nvSpPr>
          <p:cNvPr id="5" name="TextBox 4"/>
          <p:cNvSpPr txBox="1"/>
          <p:nvPr/>
        </p:nvSpPr>
        <p:spPr>
          <a:xfrm>
            <a:off x="6080759" y="1645920"/>
            <a:ext cx="5120640" cy="4114800"/>
          </a:xfrm>
          <a:prstGeom prst="rect">
            <a:avLst/>
          </a:prstGeom>
          <a:noFill/>
        </p:spPr>
        <p:txBody>
          <a:bodyPr wrap="square">
            <a:spAutoFit/>
          </a:bodyPr>
          <a:lstStyle/>
          <a:p>
            <a:pPr>
              <a:defRPr sz="1700" b="1">
                <a:solidFill>
                  <a:srgbClr val="06B6D4"/>
                </a:solidFill>
              </a:defRPr>
            </a:pPr>
            <a:r>
              <a:t>Action &amp; Resource Pages</a:t>
            </a:r>
          </a:p>
          <a:p>
            <a:pPr>
              <a:spcBef>
                <a:spcPts val="800"/>
              </a:spcBef>
              <a:defRPr sz="1300">
                <a:solidFill>
                  <a:srgbClr val="94A3B8"/>
                </a:solidFill>
              </a:defRPr>
            </a:pPr>
            <a:r>
              <a:t>• registration.html: 3-step guide, deadlines, interactive mock form.</a:t>
            </a:r>
          </a:p>
          <a:p>
            <a:pPr>
              <a:spcBef>
                <a:spcPts val="800"/>
              </a:spcBef>
              <a:defRPr sz="1300">
                <a:solidFill>
                  <a:srgbClr val="94A3B8"/>
                </a:solidFill>
              </a:defRPr>
            </a:pPr>
            <a:r>
              <a:t>• challenges.html: 5 tracks (AI, Web3, FinTech, Health, Open) + Rubric.</a:t>
            </a:r>
          </a:p>
          <a:p>
            <a:pPr>
              <a:spcBef>
                <a:spcPts val="800"/>
              </a:spcBef>
              <a:defRPr sz="1300">
                <a:solidFill>
                  <a:srgbClr val="94A3B8"/>
                </a:solidFill>
              </a:defRPr>
            </a:pPr>
            <a:r>
              <a:t>• venue.html: Campus location, Metro/Train transit, accommodation.</a:t>
            </a:r>
          </a:p>
          <a:p>
            <a:pPr>
              <a:spcBef>
                <a:spcPts val="800"/>
              </a:spcBef>
              <a:defRPr sz="1300">
                <a:solidFill>
                  <a:srgbClr val="94A3B8"/>
                </a:solidFill>
              </a:defRPr>
            </a:pPr>
            <a:r>
              <a:t>• faq.html: Interactive accordion FAQ + 2025 retrospective data.</a:t>
            </a:r>
          </a:p>
        </p:txBody>
      </p:sp>
      <p:sp>
        <p:nvSpPr>
          <p:cNvPr id="6" name="TextBox 5"/>
          <p:cNvSpPr txBox="1"/>
          <p:nvPr/>
        </p:nvSpPr>
        <p:spPr>
          <a:xfrm>
            <a:off x="731520" y="6035040"/>
            <a:ext cx="10698480" cy="365760"/>
          </a:xfrm>
          <a:prstGeom prst="rect">
            <a:avLst/>
          </a:prstGeom>
          <a:noFill/>
        </p:spPr>
        <p:txBody>
          <a:bodyPr wrap="none">
            <a:spAutoFit/>
          </a:bodyPr>
          <a:lstStyle/>
          <a:p>
            <a:pPr>
              <a:defRPr sz="1100" b="1">
                <a:solidFill>
                  <a:srgbClr val="10B981"/>
                </a:solidFill>
              </a:defRPr>
            </a:pPr>
            <a:r>
              <a:t>🎙️ Presenter: Nitin Jhajharia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ON-PAGE SEO SPECIFICATION SHEET</a:t>
            </a:r>
          </a:p>
        </p:txBody>
      </p:sp>
      <p:sp>
        <p:nvSpPr>
          <p:cNvPr id="3" name="TextBox 2"/>
          <p:cNvSpPr txBox="1"/>
          <p:nvPr/>
        </p:nvSpPr>
        <p:spPr>
          <a:xfrm>
            <a:off x="731520" y="731520"/>
            <a:ext cx="10698480" cy="731520"/>
          </a:xfrm>
          <a:prstGeom prst="rect">
            <a:avLst/>
          </a:prstGeom>
          <a:noFill/>
        </p:spPr>
        <p:txBody>
          <a:bodyPr wrap="square">
            <a:spAutoFit/>
          </a:bodyPr>
          <a:lstStyle/>
          <a:p>
            <a:pPr>
              <a:defRPr sz="2600" b="1">
                <a:solidFill>
                  <a:srgbClr val="F8FAFC"/>
                </a:solidFill>
              </a:defRPr>
            </a:pPr>
            <a:r>
              <a:t>On-Page SEO: Headings, Meta Tags &amp; Linking</a:t>
            </a:r>
          </a:p>
        </p:txBody>
      </p:sp>
      <p:sp>
        <p:nvSpPr>
          <p:cNvPr id="4" name="TextBox 3"/>
          <p:cNvSpPr txBox="1"/>
          <p:nvPr/>
        </p:nvSpPr>
        <p:spPr>
          <a:xfrm>
            <a:off x="731520" y="1645920"/>
            <a:ext cx="5120640" cy="4114800"/>
          </a:xfrm>
          <a:prstGeom prst="rect">
            <a:avLst/>
          </a:prstGeom>
          <a:noFill/>
        </p:spPr>
        <p:txBody>
          <a:bodyPr wrap="square">
            <a:spAutoFit/>
          </a:bodyPr>
          <a:lstStyle/>
          <a:p>
            <a:pPr>
              <a:defRPr sz="1700" b="1">
                <a:solidFill>
                  <a:srgbClr val="06B6D4"/>
                </a:solidFill>
              </a:defRPr>
            </a:pPr>
            <a:r>
              <a:t>Meta Tag Standards Enforced</a:t>
            </a:r>
          </a:p>
          <a:p>
            <a:pPr>
              <a:spcBef>
                <a:spcPts val="800"/>
              </a:spcBef>
              <a:defRPr sz="1300">
                <a:solidFill>
                  <a:srgbClr val="94A3B8"/>
                </a:solidFill>
              </a:defRPr>
            </a:pPr>
            <a:r>
              <a:t>• Page Titles: Unique across all 8 pages, strictly under 60 characters with branding.</a:t>
            </a:r>
          </a:p>
          <a:p>
            <a:pPr>
              <a:spcBef>
                <a:spcPts val="800"/>
              </a:spcBef>
              <a:defRPr sz="1300">
                <a:solidFill>
                  <a:srgbClr val="94A3B8"/>
                </a:solidFill>
              </a:defRPr>
            </a:pPr>
            <a:r>
              <a:t>• Meta Descriptions: Descriptive calls-to-action strictly under 155 characters.</a:t>
            </a:r>
          </a:p>
          <a:p>
            <a:pPr>
              <a:spcBef>
                <a:spcPts val="800"/>
              </a:spcBef>
              <a:defRPr sz="1300">
                <a:solidFill>
                  <a:srgbClr val="94A3B8"/>
                </a:solidFill>
              </a:defRPr>
            </a:pPr>
            <a:r>
              <a:t>• Single H1 Heading: Exactly one primary H1 per page matching the target keyword.</a:t>
            </a:r>
          </a:p>
        </p:txBody>
      </p:sp>
      <p:sp>
        <p:nvSpPr>
          <p:cNvPr id="5" name="TextBox 4"/>
          <p:cNvSpPr txBox="1"/>
          <p:nvPr/>
        </p:nvSpPr>
        <p:spPr>
          <a:xfrm>
            <a:off x="6080759" y="1645920"/>
            <a:ext cx="5120640" cy="4114800"/>
          </a:xfrm>
          <a:prstGeom prst="rect">
            <a:avLst/>
          </a:prstGeom>
          <a:noFill/>
        </p:spPr>
        <p:txBody>
          <a:bodyPr wrap="square">
            <a:spAutoFit/>
          </a:bodyPr>
          <a:lstStyle/>
          <a:p>
            <a:pPr>
              <a:defRPr sz="1700" b="1">
                <a:solidFill>
                  <a:srgbClr val="06B6D4"/>
                </a:solidFill>
              </a:defRPr>
            </a:pPr>
            <a:r>
              <a:t>Internal Linking &amp; Microdata</a:t>
            </a:r>
          </a:p>
          <a:p>
            <a:pPr>
              <a:spcBef>
                <a:spcPts val="800"/>
              </a:spcBef>
              <a:defRPr sz="1300">
                <a:solidFill>
                  <a:srgbClr val="94A3B8"/>
                </a:solidFill>
              </a:defRPr>
            </a:pPr>
            <a:r>
              <a:t>• Contextual Anchor Text: Schedule links directly to Eligibility; Challenges links to Registration.</a:t>
            </a:r>
          </a:p>
          <a:p>
            <a:pPr>
              <a:spcBef>
                <a:spcPts val="800"/>
              </a:spcBef>
              <a:defRPr sz="1300">
                <a:solidFill>
                  <a:srgbClr val="94A3B8"/>
                </a:solidFill>
              </a:defRPr>
            </a:pPr>
            <a:r>
              <a:t>• Breadcrumbs: Contextual breadcrumb navigation on all interior pages.</a:t>
            </a:r>
          </a:p>
          <a:p>
            <a:pPr>
              <a:spcBef>
                <a:spcPts val="800"/>
              </a:spcBef>
              <a:defRPr sz="1300">
                <a:solidFill>
                  <a:srgbClr val="94A3B8"/>
                </a:solidFill>
              </a:defRPr>
            </a:pPr>
            <a:r>
              <a:t>• Educational Labeling: Clear prototype notice on every page.</a:t>
            </a:r>
          </a:p>
        </p:txBody>
      </p:sp>
      <p:sp>
        <p:nvSpPr>
          <p:cNvPr id="6" name="TextBox 5"/>
          <p:cNvSpPr txBox="1"/>
          <p:nvPr/>
        </p:nvSpPr>
        <p:spPr>
          <a:xfrm>
            <a:off x="731520" y="6035040"/>
            <a:ext cx="10698480" cy="365760"/>
          </a:xfrm>
          <a:prstGeom prst="rect">
            <a:avLst/>
          </a:prstGeom>
          <a:noFill/>
        </p:spPr>
        <p:txBody>
          <a:bodyPr wrap="none">
            <a:spAutoFit/>
          </a:bodyPr>
          <a:lstStyle/>
          <a:p>
            <a:pPr>
              <a:defRPr sz="1100" b="1">
                <a:solidFill>
                  <a:srgbClr val="10B981"/>
                </a:solidFill>
              </a:defRPr>
            </a:pPr>
            <a:r>
              <a:t>🎙️ Presenter: Nitin Jhajharia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WEBSITE PROTOTYPE ARCHITECTURE</a:t>
            </a:r>
          </a:p>
        </p:txBody>
      </p:sp>
      <p:sp>
        <p:nvSpPr>
          <p:cNvPr id="3" name="TextBox 2"/>
          <p:cNvSpPr txBox="1"/>
          <p:nvPr/>
        </p:nvSpPr>
        <p:spPr>
          <a:xfrm>
            <a:off x="731520" y="731520"/>
            <a:ext cx="10698480" cy="731520"/>
          </a:xfrm>
          <a:prstGeom prst="rect">
            <a:avLst/>
          </a:prstGeom>
          <a:noFill/>
        </p:spPr>
        <p:txBody>
          <a:bodyPr wrap="square">
            <a:spAutoFit/>
          </a:bodyPr>
          <a:lstStyle/>
          <a:p>
            <a:pPr>
              <a:defRPr sz="2600" b="1">
                <a:solidFill>
                  <a:srgbClr val="F8FAFC"/>
                </a:solidFill>
              </a:defRPr>
            </a:pPr>
            <a:r>
              <a:t>Web Development &amp; Mobile-First Implementation</a:t>
            </a:r>
          </a:p>
        </p:txBody>
      </p:sp>
      <p:sp>
        <p:nvSpPr>
          <p:cNvPr id="4" name="TextBox 3"/>
          <p:cNvSpPr txBox="1"/>
          <p:nvPr/>
        </p:nvSpPr>
        <p:spPr>
          <a:xfrm>
            <a:off x="731520" y="1645920"/>
            <a:ext cx="5120640" cy="4114800"/>
          </a:xfrm>
          <a:prstGeom prst="rect">
            <a:avLst/>
          </a:prstGeom>
          <a:noFill/>
        </p:spPr>
        <p:txBody>
          <a:bodyPr wrap="square">
            <a:spAutoFit/>
          </a:bodyPr>
          <a:lstStyle/>
          <a:p>
            <a:pPr>
              <a:defRPr sz="1700" b="1">
                <a:solidFill>
                  <a:srgbClr val="06B6D4"/>
                </a:solidFill>
              </a:defRPr>
            </a:pPr>
            <a:r>
              <a:t>Zero Framework Bloat Architecture</a:t>
            </a:r>
          </a:p>
          <a:p>
            <a:pPr>
              <a:spcBef>
                <a:spcPts val="800"/>
              </a:spcBef>
              <a:defRPr sz="1300">
                <a:solidFill>
                  <a:srgbClr val="94A3B8"/>
                </a:solidFill>
              </a:defRPr>
            </a:pPr>
            <a:r>
              <a:t>• Pure Semantic HTML5: Native landmark tags (&lt;header&gt;, &lt;nav&gt;, &lt;main&gt;, &lt;footer&gt;).</a:t>
            </a:r>
          </a:p>
          <a:p>
            <a:pPr>
              <a:spcBef>
                <a:spcPts val="800"/>
              </a:spcBef>
              <a:defRPr sz="1300">
                <a:solidFill>
                  <a:srgbClr val="94A3B8"/>
                </a:solidFill>
              </a:defRPr>
            </a:pPr>
            <a:r>
              <a:t>• Modern Responsive CSS3: CSS Grid, Flexbox, custom design properties.</a:t>
            </a:r>
          </a:p>
          <a:p>
            <a:pPr>
              <a:spcBef>
                <a:spcPts val="800"/>
              </a:spcBef>
              <a:defRPr sz="1300">
                <a:solidFill>
                  <a:srgbClr val="94A3B8"/>
                </a:solidFill>
              </a:defRPr>
            </a:pPr>
            <a:r>
              <a:t>• Ultra-Fast Performance: Loads in &lt; 400ms on mobile networks (First Contentful Paint 0.4s).</a:t>
            </a:r>
          </a:p>
        </p:txBody>
      </p:sp>
      <p:sp>
        <p:nvSpPr>
          <p:cNvPr id="5" name="TextBox 4"/>
          <p:cNvSpPr txBox="1"/>
          <p:nvPr/>
        </p:nvSpPr>
        <p:spPr>
          <a:xfrm>
            <a:off x="6080759" y="1645920"/>
            <a:ext cx="5120640" cy="4114800"/>
          </a:xfrm>
          <a:prstGeom prst="rect">
            <a:avLst/>
          </a:prstGeom>
          <a:noFill/>
        </p:spPr>
        <p:txBody>
          <a:bodyPr wrap="square">
            <a:spAutoFit/>
          </a:bodyPr>
          <a:lstStyle/>
          <a:p>
            <a:pPr>
              <a:defRPr sz="1700" b="1">
                <a:solidFill>
                  <a:srgbClr val="06B6D4"/>
                </a:solidFill>
              </a:defRPr>
            </a:pPr>
            <a:r>
              <a:t>Interactive UI Components</a:t>
            </a:r>
          </a:p>
          <a:p>
            <a:pPr>
              <a:spcBef>
                <a:spcPts val="800"/>
              </a:spcBef>
              <a:defRPr sz="1300">
                <a:solidFill>
                  <a:srgbClr val="94A3B8"/>
                </a:solidFill>
              </a:defRPr>
            </a:pPr>
            <a:r>
              <a:t>• Mobile Navigation Drawer: Hamburger menu with aria-expanded attributes.</a:t>
            </a:r>
          </a:p>
          <a:p>
            <a:pPr>
              <a:spcBef>
                <a:spcPts val="800"/>
              </a:spcBef>
              <a:defRPr sz="1300">
                <a:solidFill>
                  <a:srgbClr val="94A3B8"/>
                </a:solidFill>
              </a:defRPr>
            </a:pPr>
            <a:r>
              <a:t>• Schedule Day-Tab Filtering: Instant JavaScript filtering for Days 1, 2, and 3.</a:t>
            </a:r>
          </a:p>
          <a:p>
            <a:pPr>
              <a:spcBef>
                <a:spcPts val="800"/>
              </a:spcBef>
              <a:defRPr sz="1300">
                <a:solidFill>
                  <a:srgbClr val="94A3B8"/>
                </a:solidFill>
              </a:defRPr>
            </a:pPr>
            <a:r>
              <a:t>• FAQ Accordion &amp; Form: Interactive dropdowns and client-side simulation.</a:t>
            </a:r>
          </a:p>
        </p:txBody>
      </p:sp>
      <p:sp>
        <p:nvSpPr>
          <p:cNvPr id="6" name="TextBox 5"/>
          <p:cNvSpPr txBox="1"/>
          <p:nvPr/>
        </p:nvSpPr>
        <p:spPr>
          <a:xfrm>
            <a:off x="731520" y="6035040"/>
            <a:ext cx="10698480" cy="365760"/>
          </a:xfrm>
          <a:prstGeom prst="rect">
            <a:avLst/>
          </a:prstGeom>
          <a:noFill/>
        </p:spPr>
        <p:txBody>
          <a:bodyPr wrap="none">
            <a:spAutoFit/>
          </a:bodyPr>
          <a:lstStyle/>
          <a:p>
            <a:pPr>
              <a:defRPr sz="1100" b="1">
                <a:solidFill>
                  <a:srgbClr val="10B981"/>
                </a:solidFill>
              </a:defRPr>
            </a:pPr>
            <a:r>
              <a:t>🎙️ Presenter: Dipanshu Singh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TECHNICAL SEO INFRASTRUCTURE</a:t>
            </a:r>
          </a:p>
        </p:txBody>
      </p:sp>
      <p:sp>
        <p:nvSpPr>
          <p:cNvPr id="3" name="TextBox 2"/>
          <p:cNvSpPr txBox="1"/>
          <p:nvPr/>
        </p:nvSpPr>
        <p:spPr>
          <a:xfrm>
            <a:off x="731520" y="731520"/>
            <a:ext cx="10698480" cy="731520"/>
          </a:xfrm>
          <a:prstGeom prst="rect">
            <a:avLst/>
          </a:prstGeom>
          <a:noFill/>
        </p:spPr>
        <p:txBody>
          <a:bodyPr wrap="square">
            <a:spAutoFit/>
          </a:bodyPr>
          <a:lstStyle/>
          <a:p>
            <a:pPr>
              <a:defRPr sz="2600" b="1">
                <a:solidFill>
                  <a:srgbClr val="F8FAFC"/>
                </a:solidFill>
              </a:defRPr>
            </a:pPr>
            <a:r>
              <a:t>Technical SEO: Robots, Sitemap &amp; JSON-LD Schemas</a:t>
            </a:r>
          </a:p>
        </p:txBody>
      </p:sp>
      <p:sp>
        <p:nvSpPr>
          <p:cNvPr id="4" name="TextBox 3"/>
          <p:cNvSpPr txBox="1"/>
          <p:nvPr/>
        </p:nvSpPr>
        <p:spPr>
          <a:xfrm>
            <a:off x="731520" y="1645920"/>
            <a:ext cx="5120640" cy="4114800"/>
          </a:xfrm>
          <a:prstGeom prst="rect">
            <a:avLst/>
          </a:prstGeom>
          <a:noFill/>
        </p:spPr>
        <p:txBody>
          <a:bodyPr wrap="square">
            <a:spAutoFit/>
          </a:bodyPr>
          <a:lstStyle/>
          <a:p>
            <a:pPr>
              <a:defRPr sz="1700" b="1">
                <a:solidFill>
                  <a:srgbClr val="06B6D4"/>
                </a:solidFill>
              </a:defRPr>
            </a:pPr>
            <a:r>
              <a:t>Search Engine Directives</a:t>
            </a:r>
          </a:p>
          <a:p>
            <a:pPr>
              <a:spcBef>
                <a:spcPts val="800"/>
              </a:spcBef>
              <a:defRPr sz="1300">
                <a:solidFill>
                  <a:srgbClr val="94A3B8"/>
                </a:solidFill>
              </a:defRPr>
            </a:pPr>
            <a:r>
              <a:t>• robots.txt: Open crawl policy explicitly pointing to the XML Sitemap.</a:t>
            </a:r>
          </a:p>
          <a:p>
            <a:pPr>
              <a:spcBef>
                <a:spcPts val="800"/>
              </a:spcBef>
              <a:defRPr sz="1300">
                <a:solidFill>
                  <a:srgbClr val="94A3B8"/>
                </a:solidFill>
              </a:defRPr>
            </a:pPr>
            <a:r>
              <a:t>• sitemap.xml: Validated sitemap declaring all 8 canonical URLs with crawl priorities (1.0 to 0.7) and change frequencies.</a:t>
            </a:r>
          </a:p>
        </p:txBody>
      </p:sp>
      <p:sp>
        <p:nvSpPr>
          <p:cNvPr id="5" name="TextBox 4"/>
          <p:cNvSpPr txBox="1"/>
          <p:nvPr/>
        </p:nvSpPr>
        <p:spPr>
          <a:xfrm>
            <a:off x="6080759" y="1645920"/>
            <a:ext cx="5120640" cy="4114800"/>
          </a:xfrm>
          <a:prstGeom prst="rect">
            <a:avLst/>
          </a:prstGeom>
          <a:noFill/>
        </p:spPr>
        <p:txBody>
          <a:bodyPr wrap="square">
            <a:spAutoFit/>
          </a:bodyPr>
          <a:lstStyle/>
          <a:p>
            <a:pPr>
              <a:defRPr sz="1700" b="1">
                <a:solidFill>
                  <a:srgbClr val="06B6D4"/>
                </a:solidFill>
              </a:defRPr>
            </a:pPr>
            <a:r>
              <a:t>Rich Structured Data (JSON-LD)</a:t>
            </a:r>
          </a:p>
          <a:p>
            <a:pPr>
              <a:spcBef>
                <a:spcPts val="800"/>
              </a:spcBef>
              <a:defRPr sz="1300">
                <a:solidFill>
                  <a:srgbClr val="94A3B8"/>
                </a:solidFill>
              </a:defRPr>
            </a:pPr>
            <a:r>
              <a:t>• schema.org/Hackathon &amp; Event (index.html): Dates, address, organizer, free offers.</a:t>
            </a:r>
          </a:p>
          <a:p>
            <a:pPr>
              <a:spcBef>
                <a:spcPts val="800"/>
              </a:spcBef>
              <a:defRPr sz="1300">
                <a:solidFill>
                  <a:srgbClr val="94A3B8"/>
                </a:solidFill>
              </a:defRPr>
            </a:pPr>
            <a:r>
              <a:t>• schema.org/FAQPage (faq.html): Expandable Google search dropdown snippets.</a:t>
            </a:r>
          </a:p>
          <a:p>
            <a:pPr>
              <a:spcBef>
                <a:spcPts val="800"/>
              </a:spcBef>
              <a:defRPr sz="1300">
                <a:solidFill>
                  <a:srgbClr val="94A3B8"/>
                </a:solidFill>
              </a:defRPr>
            </a:pPr>
            <a:r>
              <a:t>• schema.org/BreadcrumbList: Structured URL path hierarchy in search results.</a:t>
            </a:r>
          </a:p>
          <a:p>
            <a:pPr>
              <a:spcBef>
                <a:spcPts val="800"/>
              </a:spcBef>
              <a:defRPr sz="1300">
                <a:solidFill>
                  <a:srgbClr val="94A3B8"/>
                </a:solidFill>
              </a:defRPr>
            </a:pPr>
            <a:r>
              <a:t>• schema.org/Organization: Entity graph verification in footer.</a:t>
            </a:r>
          </a:p>
        </p:txBody>
      </p:sp>
      <p:sp>
        <p:nvSpPr>
          <p:cNvPr id="6" name="TextBox 5"/>
          <p:cNvSpPr txBox="1"/>
          <p:nvPr/>
        </p:nvSpPr>
        <p:spPr>
          <a:xfrm>
            <a:off x="731520" y="6035040"/>
            <a:ext cx="10698480" cy="365760"/>
          </a:xfrm>
          <a:prstGeom prst="rect">
            <a:avLst/>
          </a:prstGeom>
          <a:noFill/>
        </p:spPr>
        <p:txBody>
          <a:bodyPr wrap="none">
            <a:spAutoFit/>
          </a:bodyPr>
          <a:lstStyle/>
          <a:p>
            <a:pPr>
              <a:defRPr sz="1100" b="1">
                <a:solidFill>
                  <a:srgbClr val="10B981"/>
                </a:solidFill>
              </a:defRPr>
            </a:pPr>
            <a:r>
              <a:t>🎙️ Presenter: Dipanshu Singh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COMPETITIVE BENCHMARKING &amp; AUDIT</a:t>
            </a:r>
          </a:p>
        </p:txBody>
      </p:sp>
      <p:sp>
        <p:nvSpPr>
          <p:cNvPr id="3" name="TextBox 2"/>
          <p:cNvSpPr txBox="1"/>
          <p:nvPr/>
        </p:nvSpPr>
        <p:spPr>
          <a:xfrm>
            <a:off x="731520" y="731520"/>
            <a:ext cx="10698480" cy="731520"/>
          </a:xfrm>
          <a:prstGeom prst="rect">
            <a:avLst/>
          </a:prstGeom>
          <a:noFill/>
        </p:spPr>
        <p:txBody>
          <a:bodyPr wrap="square">
            <a:spAutoFit/>
          </a:bodyPr>
          <a:lstStyle/>
          <a:p>
            <a:pPr>
              <a:defRPr sz="2600" b="1">
                <a:solidFill>
                  <a:srgbClr val="F8FAFC"/>
                </a:solidFill>
              </a:defRPr>
            </a:pPr>
            <a:r>
              <a:t>Competitor Baseline Audit: Devfolio vs CampusTech</a:t>
            </a:r>
          </a:p>
        </p:txBody>
      </p:sp>
      <p:sp>
        <p:nvSpPr>
          <p:cNvPr id="4" name="TextBox 3"/>
          <p:cNvSpPr txBox="1"/>
          <p:nvPr/>
        </p:nvSpPr>
        <p:spPr>
          <a:xfrm>
            <a:off x="731520" y="1645920"/>
            <a:ext cx="3337560" cy="4114800"/>
          </a:xfrm>
          <a:prstGeom prst="rect">
            <a:avLst/>
          </a:prstGeom>
          <a:noFill/>
        </p:spPr>
        <p:txBody>
          <a:bodyPr wrap="square">
            <a:spAutoFit/>
          </a:bodyPr>
          <a:lstStyle/>
          <a:p>
            <a:pPr>
              <a:defRPr sz="1700" b="1">
                <a:solidFill>
                  <a:srgbClr val="06B6D4"/>
                </a:solidFill>
              </a:defRPr>
            </a:pPr>
            <a:r>
              <a:t>Audit Parameter</a:t>
            </a:r>
          </a:p>
          <a:p>
            <a:pPr>
              <a:spcBef>
                <a:spcPts val="800"/>
              </a:spcBef>
              <a:defRPr sz="1300">
                <a:solidFill>
                  <a:srgbClr val="94A3B8"/>
                </a:solidFill>
              </a:defRPr>
            </a:pPr>
            <a:r>
              <a:t>• Lighthouse Performance</a:t>
            </a:r>
          </a:p>
          <a:p>
            <a:pPr>
              <a:spcBef>
                <a:spcPts val="800"/>
              </a:spcBef>
              <a:defRPr sz="1300">
                <a:solidFill>
                  <a:srgbClr val="94A3B8"/>
                </a:solidFill>
              </a:defRPr>
            </a:pPr>
            <a:r>
              <a:t>• First Contentful Paint (FCP)</a:t>
            </a:r>
          </a:p>
          <a:p>
            <a:pPr>
              <a:spcBef>
                <a:spcPts val="800"/>
              </a:spcBef>
              <a:defRPr sz="1300">
                <a:solidFill>
                  <a:srgbClr val="94A3B8"/>
                </a:solidFill>
              </a:defRPr>
            </a:pPr>
            <a:r>
              <a:t>• Cumulative Layout Shift (CLS)</a:t>
            </a:r>
          </a:p>
          <a:p>
            <a:pPr>
              <a:spcBef>
                <a:spcPts val="800"/>
              </a:spcBef>
              <a:defRPr sz="1300">
                <a:solidFill>
                  <a:srgbClr val="94A3B8"/>
                </a:solidFill>
              </a:defRPr>
            </a:pPr>
            <a:r>
              <a:t>• Lighthouse SEO Score</a:t>
            </a:r>
          </a:p>
          <a:p>
            <a:pPr>
              <a:spcBef>
                <a:spcPts val="800"/>
              </a:spcBef>
              <a:defRPr sz="1300">
                <a:solidFill>
                  <a:srgbClr val="94A3B8"/>
                </a:solidFill>
              </a:defRPr>
            </a:pPr>
            <a:r>
              <a:t>• Accessibility Score</a:t>
            </a:r>
          </a:p>
        </p:txBody>
      </p:sp>
      <p:sp>
        <p:nvSpPr>
          <p:cNvPr id="5" name="TextBox 4"/>
          <p:cNvSpPr txBox="1"/>
          <p:nvPr/>
        </p:nvSpPr>
        <p:spPr>
          <a:xfrm>
            <a:off x="4297680" y="1645920"/>
            <a:ext cx="3337560" cy="4114800"/>
          </a:xfrm>
          <a:prstGeom prst="rect">
            <a:avLst/>
          </a:prstGeom>
          <a:noFill/>
        </p:spPr>
        <p:txBody>
          <a:bodyPr wrap="square">
            <a:spAutoFit/>
          </a:bodyPr>
          <a:lstStyle/>
          <a:p>
            <a:pPr>
              <a:defRPr sz="1700" b="1">
                <a:solidFill>
                  <a:srgbClr val="06B6D4"/>
                </a:solidFill>
              </a:defRPr>
            </a:pPr>
            <a:r>
              <a:t>Devfolio Microsites</a:t>
            </a:r>
          </a:p>
          <a:p>
            <a:pPr>
              <a:spcBef>
                <a:spcPts val="800"/>
              </a:spcBef>
              <a:defRPr sz="1300">
                <a:solidFill>
                  <a:srgbClr val="94A3B8"/>
                </a:solidFill>
              </a:defRPr>
            </a:pPr>
            <a:r>
              <a:t>• 68 / 100 (Heavy JS bundles)</a:t>
            </a:r>
          </a:p>
          <a:p>
            <a:pPr>
              <a:spcBef>
                <a:spcPts val="800"/>
              </a:spcBef>
              <a:defRPr sz="1300">
                <a:solidFill>
                  <a:srgbClr val="94A3B8"/>
                </a:solidFill>
              </a:defRPr>
            </a:pPr>
            <a:r>
              <a:t>• 1.8 seconds</a:t>
            </a:r>
          </a:p>
          <a:p>
            <a:pPr>
              <a:spcBef>
                <a:spcPts val="800"/>
              </a:spcBef>
              <a:defRPr sz="1300">
                <a:solidFill>
                  <a:srgbClr val="94A3B8"/>
                </a:solidFill>
              </a:defRPr>
            </a:pPr>
            <a:r>
              <a:t>• 0.08 (Layout shifts on load)</a:t>
            </a:r>
          </a:p>
          <a:p>
            <a:pPr>
              <a:spcBef>
                <a:spcPts val="800"/>
              </a:spcBef>
              <a:defRPr sz="1300">
                <a:solidFill>
                  <a:srgbClr val="94A3B8"/>
                </a:solidFill>
              </a:defRPr>
            </a:pPr>
            <a:r>
              <a:t>• 89 / 100 (Missing microdata)</a:t>
            </a:r>
          </a:p>
          <a:p>
            <a:pPr>
              <a:spcBef>
                <a:spcPts val="800"/>
              </a:spcBef>
              <a:defRPr sz="1300">
                <a:solidFill>
                  <a:srgbClr val="94A3B8"/>
                </a:solidFill>
              </a:defRPr>
            </a:pPr>
            <a:r>
              <a:t>• 82 / 100 (Low contrast tags)</a:t>
            </a:r>
          </a:p>
        </p:txBody>
      </p:sp>
      <p:sp>
        <p:nvSpPr>
          <p:cNvPr id="6" name="TextBox 5"/>
          <p:cNvSpPr txBox="1"/>
          <p:nvPr/>
        </p:nvSpPr>
        <p:spPr>
          <a:xfrm>
            <a:off x="7863840" y="1645920"/>
            <a:ext cx="3337560" cy="4114800"/>
          </a:xfrm>
          <a:prstGeom prst="rect">
            <a:avLst/>
          </a:prstGeom>
          <a:noFill/>
        </p:spPr>
        <p:txBody>
          <a:bodyPr wrap="square">
            <a:spAutoFit/>
          </a:bodyPr>
          <a:lstStyle/>
          <a:p>
            <a:pPr>
              <a:defRPr sz="1700" b="1">
                <a:solidFill>
                  <a:srgbClr val="06B6D4"/>
                </a:solidFill>
              </a:defRPr>
            </a:pPr>
            <a:r>
              <a:t>CampusTech 2026</a:t>
            </a:r>
          </a:p>
          <a:p>
            <a:pPr>
              <a:spcBef>
                <a:spcPts val="800"/>
              </a:spcBef>
              <a:defRPr sz="1300">
                <a:solidFill>
                  <a:srgbClr val="94A3B8"/>
                </a:solidFill>
              </a:defRPr>
            </a:pPr>
            <a:r>
              <a:t>• 98 / 100 (Zero JS bloat)</a:t>
            </a:r>
          </a:p>
          <a:p>
            <a:pPr>
              <a:spcBef>
                <a:spcPts val="800"/>
              </a:spcBef>
              <a:defRPr sz="1300">
                <a:solidFill>
                  <a:srgbClr val="94A3B8"/>
                </a:solidFill>
              </a:defRPr>
            </a:pPr>
            <a:r>
              <a:t>• 0.4 seconds (&lt; 0.8s target)</a:t>
            </a:r>
          </a:p>
          <a:p>
            <a:pPr>
              <a:spcBef>
                <a:spcPts val="800"/>
              </a:spcBef>
              <a:defRPr sz="1300">
                <a:solidFill>
                  <a:srgbClr val="94A3B8"/>
                </a:solidFill>
              </a:defRPr>
            </a:pPr>
            <a:r>
              <a:t>• 0.00 (Zero layout shift)</a:t>
            </a:r>
          </a:p>
          <a:p>
            <a:pPr>
              <a:spcBef>
                <a:spcPts val="800"/>
              </a:spcBef>
              <a:defRPr sz="1300">
                <a:solidFill>
                  <a:srgbClr val="94A3B8"/>
                </a:solidFill>
              </a:defRPr>
            </a:pPr>
            <a:r>
              <a:t>• 100 / 100 (All schemas present)</a:t>
            </a:r>
          </a:p>
          <a:p>
            <a:pPr>
              <a:spcBef>
                <a:spcPts val="800"/>
              </a:spcBef>
              <a:defRPr sz="1300">
                <a:solidFill>
                  <a:srgbClr val="94A3B8"/>
                </a:solidFill>
              </a:defRPr>
            </a:pPr>
            <a:r>
              <a:t>• 96 / 100 (WCAG AA compliant)</a:t>
            </a:r>
          </a:p>
        </p:txBody>
      </p:sp>
      <p:sp>
        <p:nvSpPr>
          <p:cNvPr id="7" name="TextBox 6"/>
          <p:cNvSpPr txBox="1"/>
          <p:nvPr/>
        </p:nvSpPr>
        <p:spPr>
          <a:xfrm>
            <a:off x="731520" y="6035040"/>
            <a:ext cx="10698480" cy="365760"/>
          </a:xfrm>
          <a:prstGeom prst="rect">
            <a:avLst/>
          </a:prstGeom>
          <a:noFill/>
        </p:spPr>
        <p:txBody>
          <a:bodyPr wrap="none">
            <a:spAutoFit/>
          </a:bodyPr>
          <a:lstStyle/>
          <a:p>
            <a:pPr>
              <a:defRPr sz="1100" b="1">
                <a:solidFill>
                  <a:srgbClr val="10B981"/>
                </a:solidFill>
              </a:defRPr>
            </a:pPr>
            <a:r>
              <a:t>🎙️ Presenter: Sumit Kumar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QUALITY ASSURANCE &amp; NEXT STEPS</a:t>
            </a:r>
          </a:p>
        </p:txBody>
      </p:sp>
      <p:sp>
        <p:nvSpPr>
          <p:cNvPr id="3" name="TextBox 2"/>
          <p:cNvSpPr txBox="1"/>
          <p:nvPr/>
        </p:nvSpPr>
        <p:spPr>
          <a:xfrm>
            <a:off x="731520" y="731520"/>
            <a:ext cx="10698480" cy="731520"/>
          </a:xfrm>
          <a:prstGeom prst="rect">
            <a:avLst/>
          </a:prstGeom>
          <a:noFill/>
        </p:spPr>
        <p:txBody>
          <a:bodyPr wrap="square">
            <a:spAutoFit/>
          </a:bodyPr>
          <a:lstStyle/>
          <a:p>
            <a:pPr>
              <a:defRPr sz="2600" b="1">
                <a:solidFill>
                  <a:srgbClr val="F8FAFC"/>
                </a:solidFill>
              </a:defRPr>
            </a:pPr>
            <a:r>
              <a:t>Milestone 1 QA Results &amp; Project Roadmap</a:t>
            </a:r>
          </a:p>
        </p:txBody>
      </p:sp>
      <p:sp>
        <p:nvSpPr>
          <p:cNvPr id="4" name="TextBox 3"/>
          <p:cNvSpPr txBox="1"/>
          <p:nvPr/>
        </p:nvSpPr>
        <p:spPr>
          <a:xfrm>
            <a:off x="731520" y="1645920"/>
            <a:ext cx="5120640" cy="4114800"/>
          </a:xfrm>
          <a:prstGeom prst="rect">
            <a:avLst/>
          </a:prstGeom>
          <a:noFill/>
        </p:spPr>
        <p:txBody>
          <a:bodyPr wrap="square">
            <a:spAutoFit/>
          </a:bodyPr>
          <a:lstStyle/>
          <a:p>
            <a:pPr>
              <a:defRPr sz="1700" b="1">
                <a:solidFill>
                  <a:srgbClr val="06B6D4"/>
                </a:solidFill>
              </a:defRPr>
            </a:pPr>
            <a:r>
              <a:t>Milestone 1 Deliverables Completed</a:t>
            </a:r>
          </a:p>
          <a:p>
            <a:pPr>
              <a:spcBef>
                <a:spcPts val="800"/>
              </a:spcBef>
              <a:defRPr sz="1300">
                <a:solidFill>
                  <a:srgbClr val="94A3B8"/>
                </a:solidFill>
              </a:defRPr>
            </a:pPr>
            <a:r>
              <a:t>• 100% of internal links and breadcrumbs validated without broken links.</a:t>
            </a:r>
          </a:p>
          <a:p>
            <a:pPr>
              <a:spcBef>
                <a:spcPts val="800"/>
              </a:spcBef>
              <a:defRPr sz="1300">
                <a:solidFill>
                  <a:srgbClr val="94A3B8"/>
                </a:solidFill>
              </a:defRPr>
            </a:pPr>
            <a:r>
              <a:t>• Zero schema errors verified via Schema.org validator.</a:t>
            </a:r>
          </a:p>
          <a:p>
            <a:pPr>
              <a:spcBef>
                <a:spcPts val="800"/>
              </a:spcBef>
              <a:defRPr sz="1300">
                <a:solidFill>
                  <a:srgbClr val="94A3B8"/>
                </a:solidFill>
              </a:defRPr>
            </a:pPr>
            <a:r>
              <a:t>• Comprehensive Milestone 1 Report (19.6 KB) &amp; Presentation deck ready.</a:t>
            </a:r>
          </a:p>
          <a:p>
            <a:pPr>
              <a:spcBef>
                <a:spcPts val="800"/>
              </a:spcBef>
              <a:defRPr sz="1300">
                <a:solidFill>
                  <a:srgbClr val="94A3B8"/>
                </a:solidFill>
              </a:defRPr>
            </a:pPr>
            <a:r>
              <a:t>• All 16 files staged and committed to Git branch main.</a:t>
            </a:r>
          </a:p>
        </p:txBody>
      </p:sp>
      <p:sp>
        <p:nvSpPr>
          <p:cNvPr id="5" name="TextBox 4"/>
          <p:cNvSpPr txBox="1"/>
          <p:nvPr/>
        </p:nvSpPr>
        <p:spPr>
          <a:xfrm>
            <a:off x="6080759" y="1645920"/>
            <a:ext cx="5120640" cy="4114800"/>
          </a:xfrm>
          <a:prstGeom prst="rect">
            <a:avLst/>
          </a:prstGeom>
          <a:noFill/>
        </p:spPr>
        <p:txBody>
          <a:bodyPr wrap="square">
            <a:spAutoFit/>
          </a:bodyPr>
          <a:lstStyle/>
          <a:p>
            <a:pPr>
              <a:defRPr sz="1700" b="1">
                <a:solidFill>
                  <a:srgbClr val="06B6D4"/>
                </a:solidFill>
              </a:defRPr>
            </a:pPr>
            <a:r>
              <a:t>Milestone 2 Roadmap</a:t>
            </a:r>
          </a:p>
          <a:p>
            <a:pPr>
              <a:spcBef>
                <a:spcPts val="800"/>
              </a:spcBef>
              <a:defRPr sz="1300">
                <a:solidFill>
                  <a:srgbClr val="94A3B8"/>
                </a:solidFill>
              </a:defRPr>
            </a:pPr>
            <a:r>
              <a:t>• Google Search Console domain verification and live crawl indexing.</a:t>
            </a:r>
          </a:p>
          <a:p>
            <a:pPr>
              <a:spcBef>
                <a:spcPts val="800"/>
              </a:spcBef>
              <a:defRPr sz="1300">
                <a:solidFill>
                  <a:srgbClr val="94A3B8"/>
                </a:solidFill>
              </a:defRPr>
            </a:pPr>
            <a:r>
              <a:t>• Advanced image compression using modern WebP formats and srcset.</a:t>
            </a:r>
          </a:p>
          <a:p>
            <a:pPr>
              <a:spcBef>
                <a:spcPts val="800"/>
              </a:spcBef>
              <a:defRPr sz="1300">
                <a:solidFill>
                  <a:srgbClr val="94A3B8"/>
                </a:solidFill>
              </a:defRPr>
            </a:pPr>
            <a:r>
              <a:t>• Final performance tuning and end-to-end user demonstration.</a:t>
            </a:r>
          </a:p>
        </p:txBody>
      </p:sp>
      <p:sp>
        <p:nvSpPr>
          <p:cNvPr id="6" name="TextBox 5"/>
          <p:cNvSpPr txBox="1"/>
          <p:nvPr/>
        </p:nvSpPr>
        <p:spPr>
          <a:xfrm>
            <a:off x="731520" y="6035040"/>
            <a:ext cx="10698480" cy="365760"/>
          </a:xfrm>
          <a:prstGeom prst="rect">
            <a:avLst/>
          </a:prstGeom>
          <a:noFill/>
        </p:spPr>
        <p:txBody>
          <a:bodyPr wrap="none">
            <a:spAutoFit/>
          </a:bodyPr>
          <a:lstStyle/>
          <a:p>
            <a:pPr>
              <a:defRPr sz="1100" b="1">
                <a:solidFill>
                  <a:srgbClr val="10B981"/>
                </a:solidFill>
              </a:defRPr>
            </a:pPr>
            <a:r>
              <a:t>🎙️ Presenter: Sumit Kumar &amp; Pratik Singh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